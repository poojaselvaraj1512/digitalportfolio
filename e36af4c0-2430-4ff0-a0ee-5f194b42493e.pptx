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4" r:id="rId9"/>
    <p:sldId id="269" r:id="rId10"/>
    <p:sldId id="263" r:id="rId11"/>
    <p:sldId id="265" r:id="rId12"/>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22"/>
    <p:restoredTop sz="94599"/>
  </p:normalViewPr>
  <p:slideViewPr>
    <p:cSldViewPr>
      <p:cViewPr varScale="1">
        <p:scale>
          <a:sx n="112" d="100"/>
          <a:sy n="112" d="100"/>
        </p:scale>
        <p:origin x="504" y="19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ooja S  24BDS034" userId="0087d080-07bf-4b1d-96a9-b07cc18a5231" providerId="ADAL" clId="{4C83EB9E-5750-5BB9-9C5A-E3EB6946653B}"/>
    <pc:docChg chg="modSld">
      <pc:chgData name="Pooja S  24BDS034" userId="0087d080-07bf-4b1d-96a9-b07cc18a5231" providerId="ADAL" clId="{4C83EB9E-5750-5BB9-9C5A-E3EB6946653B}" dt="2025-09-12T12:58:38.222" v="24" actId="20577"/>
      <pc:docMkLst>
        <pc:docMk/>
      </pc:docMkLst>
      <pc:sldChg chg="modSp mod">
        <pc:chgData name="Pooja S  24BDS034" userId="0087d080-07bf-4b1d-96a9-b07cc18a5231" providerId="ADAL" clId="{4C83EB9E-5750-5BB9-9C5A-E3EB6946653B}" dt="2025-09-12T12:58:38.222" v="24" actId="20577"/>
        <pc:sldMkLst>
          <pc:docMk/>
          <pc:sldMk cId="0" sldId="256"/>
        </pc:sldMkLst>
        <pc:spChg chg="mod">
          <ac:chgData name="Pooja S  24BDS034" userId="0087d080-07bf-4b1d-96a9-b07cc18a5231" providerId="ADAL" clId="{4C83EB9E-5750-5BB9-9C5A-E3EB6946653B}" dt="2025-09-12T12:58:38.222" v="24" actId="20577"/>
          <ac:spMkLst>
            <pc:docMk/>
            <pc:sldMk cId="0" sldId="256"/>
            <ac:spMk id="14" creationId="{D55ADE35-C35B-07C1-F5AA-C33B3DDB802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84B86612-B127-4CD0-BF15-66D49A7175F7}" type="datetimeFigureOut">
              <a:rPr lang="en-IN" smtClean="0"/>
              <a:t>12/09/25</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F7F439ED-1E90-4106-847A-8EF19031FE2F}" type="slidenum">
              <a:rPr lang="en-IN" smtClean="0"/>
              <a:t>‹#›</a:t>
            </a:fld>
            <a:endParaRPr lang="en-IN"/>
          </a:p>
        </p:txBody>
      </p:sp>
    </p:spTree>
    <p:extLst>
      <p:ext uri="{BB962C8B-B14F-4D97-AF65-F5344CB8AC3E}">
        <p14:creationId xmlns:p14="http://schemas.microsoft.com/office/powerpoint/2010/main" val="2918557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7F439ED-1E90-4106-847A-8EF19031FE2F}" type="slidenum">
              <a:rPr lang="en-IN" smtClean="0"/>
              <a:t>1</a:t>
            </a:fld>
            <a:endParaRPr lang="en-IN"/>
          </a:p>
        </p:txBody>
      </p:sp>
    </p:spTree>
    <p:extLst>
      <p:ext uri="{BB962C8B-B14F-4D97-AF65-F5344CB8AC3E}">
        <p14:creationId xmlns:p14="http://schemas.microsoft.com/office/powerpoint/2010/main" val="4043535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195574" y="2067305"/>
            <a:ext cx="5800851" cy="518160"/>
          </a:xfrm>
          <a:prstGeom prst="rect">
            <a:avLst/>
          </a:prstGeom>
        </p:spPr>
        <p:txBody>
          <a:bodyPr wrap="square" lIns="0" tIns="0" rIns="0" bIns="0">
            <a:spAutoFit/>
          </a:bodyPr>
          <a:lstStyle>
            <a:lvl1pPr>
              <a:defRPr sz="3200" b="0" i="0">
                <a:solidFill>
                  <a:schemeClr val="tx1"/>
                </a:solidFill>
                <a:latin typeface="Trebuchet MS"/>
                <a:cs typeface="Trebuchet MS"/>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9/12/25</a:t>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9/12/25</a:t>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9/12/25</a:t>
            </a:fld>
            <a:endParaRPr lang="en-US"/>
          </a:p>
        </p:txBody>
      </p:sp>
      <p:sp>
        <p:nvSpPr>
          <p:cNvPr id="7" name="Holder 7"/>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9/12/25</a:t>
            </a:fld>
            <a:endParaRPr lang="en-US"/>
          </a:p>
        </p:txBody>
      </p:sp>
      <p:sp>
        <p:nvSpPr>
          <p:cNvPr id="5" name="Holder 5"/>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9/12/25</a:t>
            </a:fld>
            <a:endParaRPr lang="en-US"/>
          </a:p>
        </p:txBody>
      </p:sp>
      <p:sp>
        <p:nvSpPr>
          <p:cNvPr id="4" name="Holder 4"/>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17" name="bg object 17"/>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18" name="bg object 18"/>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19" name="bg object 19"/>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20" name="bg object 20"/>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21" name="bg object 21"/>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22" name="bg object 22"/>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23" name="bg object 23"/>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24" name="bg object 24"/>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sp>
        <p:nvSpPr>
          <p:cNvPr id="25" name="bg object 25"/>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2" name="Holder 2"/>
          <p:cNvSpPr>
            <a:spLocks noGrp="1"/>
          </p:cNvSpPr>
          <p:nvPr>
            <p:ph type="title"/>
          </p:nvPr>
        </p:nvSpPr>
        <p:spPr>
          <a:xfrm>
            <a:off x="755332" y="385444"/>
            <a:ext cx="10681335" cy="758190"/>
          </a:xfrm>
          <a:prstGeom prst="rect">
            <a:avLst/>
          </a:prstGeom>
        </p:spPr>
        <p:txBody>
          <a:bodyPr wrap="square" lIns="0" tIns="0" rIns="0" bIns="0">
            <a:spAutoFit/>
          </a:bodyPr>
          <a:lstStyle>
            <a:lvl1pPr>
              <a:defRPr sz="4800" b="1" i="0">
                <a:solidFill>
                  <a:schemeClr val="tx1"/>
                </a:solidFill>
                <a:latin typeface="Trebuchet MS"/>
                <a:cs typeface="Trebuchet MS"/>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9/12/25</a:t>
            </a:fld>
            <a:endParaRPr lang="en-US"/>
          </a:p>
        </p:txBody>
      </p:sp>
      <p:sp>
        <p:nvSpPr>
          <p:cNvPr id="6" name="Holder 6"/>
          <p:cNvSpPr>
            <a:spLocks noGrp="1"/>
          </p:cNvSpPr>
          <p:nvPr>
            <p:ph type="sldNum" sz="quarter" idx="7"/>
          </p:nvPr>
        </p:nvSpPr>
        <p:spPr>
          <a:xfrm>
            <a:off x="11353418" y="6473337"/>
            <a:ext cx="151129" cy="191770"/>
          </a:xfrm>
          <a:prstGeom prst="rect">
            <a:avLst/>
          </a:prstGeom>
        </p:spPr>
        <p:txBody>
          <a:bodyPr wrap="square" lIns="0" tIns="0" rIns="0" bIns="0">
            <a:spAutoFit/>
          </a:bodyPr>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76299" y="990600"/>
            <a:ext cx="1743075" cy="1333500"/>
            <a:chOff x="742950" y="1104900"/>
            <a:chExt cx="1743075" cy="1333500"/>
          </a:xfrm>
        </p:grpSpPr>
        <p:sp>
          <p:nvSpPr>
            <p:cNvPr id="3" name="object 3"/>
            <p:cNvSpPr/>
            <p:nvPr/>
          </p:nvSpPr>
          <p:spPr>
            <a:xfrm>
              <a:off x="742950" y="1381125"/>
              <a:ext cx="1228725" cy="1057275"/>
            </a:xfrm>
            <a:custGeom>
              <a:avLst/>
              <a:gdLst/>
              <a:ahLst/>
              <a:cxnLst/>
              <a:rect l="l" t="t" r="r" b="b"/>
              <a:pathLst>
                <a:path w="1228725" h="1057275">
                  <a:moveTo>
                    <a:pt x="964438" y="0"/>
                  </a:moveTo>
                  <a:lnTo>
                    <a:pt x="264312" y="0"/>
                  </a:lnTo>
                  <a:lnTo>
                    <a:pt x="0" y="528701"/>
                  </a:lnTo>
                  <a:lnTo>
                    <a:pt x="264312" y="1057275"/>
                  </a:lnTo>
                  <a:lnTo>
                    <a:pt x="964438" y="1057275"/>
                  </a:lnTo>
                  <a:lnTo>
                    <a:pt x="1228725" y="528701"/>
                  </a:lnTo>
                  <a:lnTo>
                    <a:pt x="964438" y="0"/>
                  </a:lnTo>
                  <a:close/>
                </a:path>
              </a:pathLst>
            </a:custGeom>
            <a:solidFill>
              <a:srgbClr val="5FCAEE"/>
            </a:solidFill>
          </p:spPr>
          <p:txBody>
            <a:bodyPr wrap="square" lIns="0" tIns="0" rIns="0" bIns="0" rtlCol="0"/>
            <a:lstStyle/>
            <a:p>
              <a:endParaRPr/>
            </a:p>
          </p:txBody>
        </p:sp>
        <p:sp>
          <p:nvSpPr>
            <p:cNvPr id="4" name="object 4"/>
            <p:cNvSpPr/>
            <p:nvPr/>
          </p:nvSpPr>
          <p:spPr>
            <a:xfrm>
              <a:off x="1838325" y="1104900"/>
              <a:ext cx="647700" cy="561975"/>
            </a:xfrm>
            <a:custGeom>
              <a:avLst/>
              <a:gdLst/>
              <a:ahLst/>
              <a:cxnLst/>
              <a:rect l="l" t="t" r="r" b="b"/>
              <a:pathLst>
                <a:path w="647700" h="561975">
                  <a:moveTo>
                    <a:pt x="507238" y="0"/>
                  </a:moveTo>
                  <a:lnTo>
                    <a:pt x="140462" y="0"/>
                  </a:lnTo>
                  <a:lnTo>
                    <a:pt x="0" y="280924"/>
                  </a:lnTo>
                  <a:lnTo>
                    <a:pt x="140462" y="561975"/>
                  </a:lnTo>
                  <a:lnTo>
                    <a:pt x="507238" y="561975"/>
                  </a:lnTo>
                  <a:lnTo>
                    <a:pt x="647700" y="280924"/>
                  </a:lnTo>
                  <a:lnTo>
                    <a:pt x="507238" y="0"/>
                  </a:lnTo>
                  <a:close/>
                </a:path>
              </a:pathLst>
            </a:custGeom>
            <a:solidFill>
              <a:srgbClr val="2D936B"/>
            </a:solidFill>
          </p:spPr>
          <p:txBody>
            <a:bodyPr wrap="square" lIns="0" tIns="0" rIns="0" bIns="0" rtlCol="0"/>
            <a:lstStyle/>
            <a:p>
              <a:endParaRPr/>
            </a:p>
          </p:txBody>
        </p:sp>
      </p:grpSp>
      <p:sp>
        <p:nvSpPr>
          <p:cNvPr id="5" name="object 5"/>
          <p:cNvSpPr/>
          <p:nvPr/>
        </p:nvSpPr>
        <p:spPr>
          <a:xfrm>
            <a:off x="3752850" y="1190625"/>
            <a:ext cx="1666875" cy="1438275"/>
          </a:xfrm>
          <a:custGeom>
            <a:avLst/>
            <a:gdLst/>
            <a:ahLst/>
            <a:cxnLst/>
            <a:rect l="l" t="t" r="r" b="b"/>
            <a:pathLst>
              <a:path w="1666875" h="1438275">
                <a:moveTo>
                  <a:pt x="1307338" y="0"/>
                </a:moveTo>
                <a:lnTo>
                  <a:pt x="359537" y="0"/>
                </a:lnTo>
                <a:lnTo>
                  <a:pt x="0" y="719074"/>
                </a:lnTo>
                <a:lnTo>
                  <a:pt x="359537" y="1438275"/>
                </a:lnTo>
                <a:lnTo>
                  <a:pt x="1307338" y="1438275"/>
                </a:lnTo>
                <a:lnTo>
                  <a:pt x="1666875" y="719074"/>
                </a:lnTo>
                <a:lnTo>
                  <a:pt x="1307338" y="0"/>
                </a:lnTo>
                <a:close/>
              </a:path>
            </a:pathLst>
          </a:custGeom>
          <a:solidFill>
            <a:srgbClr val="42D0A1"/>
          </a:solidFill>
        </p:spPr>
        <p:txBody>
          <a:bodyPr wrap="square" lIns="0" tIns="0" rIns="0" bIns="0" rtlCol="0"/>
          <a:lstStyle/>
          <a:p>
            <a:endParaRPr/>
          </a:p>
        </p:txBody>
      </p:sp>
      <p:sp>
        <p:nvSpPr>
          <p:cNvPr id="6" name="object 6"/>
          <p:cNvSpPr/>
          <p:nvPr/>
        </p:nvSpPr>
        <p:spPr>
          <a:xfrm>
            <a:off x="3800475" y="5229225"/>
            <a:ext cx="723900" cy="619125"/>
          </a:xfrm>
          <a:custGeom>
            <a:avLst/>
            <a:gdLst/>
            <a:ahLst/>
            <a:cxnLst/>
            <a:rect l="l" t="t" r="r" b="b"/>
            <a:pathLst>
              <a:path w="723900" h="619125">
                <a:moveTo>
                  <a:pt x="569087" y="0"/>
                </a:moveTo>
                <a:lnTo>
                  <a:pt x="154812" y="0"/>
                </a:lnTo>
                <a:lnTo>
                  <a:pt x="0" y="309625"/>
                </a:lnTo>
                <a:lnTo>
                  <a:pt x="154812" y="619125"/>
                </a:lnTo>
                <a:lnTo>
                  <a:pt x="569087" y="619125"/>
                </a:lnTo>
                <a:lnTo>
                  <a:pt x="723900" y="309625"/>
                </a:lnTo>
                <a:lnTo>
                  <a:pt x="569087" y="0"/>
                </a:lnTo>
                <a:close/>
              </a:path>
            </a:pathLst>
          </a:custGeom>
          <a:solidFill>
            <a:srgbClr val="42AF51"/>
          </a:solidFill>
        </p:spPr>
        <p:txBody>
          <a:bodyPr wrap="square" lIns="0" tIns="0" rIns="0" bIns="0" rtlCol="0"/>
          <a:lstStyle/>
          <a:p>
            <a:endParaRPr/>
          </a:p>
        </p:txBody>
      </p:sp>
      <p:sp>
        <p:nvSpPr>
          <p:cNvPr id="7" name="object 7"/>
          <p:cNvSpPr txBox="1">
            <a:spLocks noGrp="1"/>
          </p:cNvSpPr>
          <p:nvPr>
            <p:ph type="ctrTitle"/>
          </p:nvPr>
        </p:nvSpPr>
        <p:spPr>
          <a:xfrm>
            <a:off x="1066800" y="190499"/>
            <a:ext cx="7772400" cy="1001556"/>
          </a:xfrm>
          <a:prstGeom prst="rect">
            <a:avLst/>
          </a:prstGeom>
        </p:spPr>
        <p:txBody>
          <a:bodyPr vert="horz" wrap="square" lIns="0" tIns="16510" rIns="0" bIns="0" rtlCol="0">
            <a:spAutoFit/>
          </a:bodyPr>
          <a:lstStyle/>
          <a:p>
            <a:pPr marL="3213735">
              <a:spcBef>
                <a:spcPts val="130"/>
              </a:spcBef>
            </a:pPr>
            <a:r>
              <a:rPr lang="en-US" b="1" i="0" dirty="0">
                <a:solidFill>
                  <a:srgbClr val="0F0F0F"/>
                </a:solidFill>
                <a:effectLst/>
                <a:latin typeface="Times New Roman" panose="02020603050405020304" pitchFamily="18" charset="0"/>
                <a:cs typeface="Times New Roman" panose="02020603050405020304" pitchFamily="18" charset="0"/>
              </a:rPr>
              <a:t>Digital Portfolio </a:t>
            </a:r>
            <a:br>
              <a:rPr lang="en-US" b="1" i="0" dirty="0">
                <a:solidFill>
                  <a:srgbClr val="0F0F0F"/>
                </a:solidFill>
                <a:effectLst/>
                <a:latin typeface="Roboto" panose="020F0502020204030204" pitchFamily="2" charset="0"/>
              </a:rPr>
            </a:br>
            <a:endParaRPr spc="15" dirty="0"/>
          </a:p>
        </p:txBody>
      </p:sp>
      <p:pic>
        <p:nvPicPr>
          <p:cNvPr id="9" name="object 9"/>
          <p:cNvPicPr/>
          <p:nvPr/>
        </p:nvPicPr>
        <p:blipFill>
          <a:blip r:embed="rId3" cstate="print"/>
          <a:stretch>
            <a:fillRect/>
          </a:stretch>
        </p:blipFill>
        <p:spPr>
          <a:xfrm>
            <a:off x="676275" y="6467475"/>
            <a:ext cx="2143125" cy="200025"/>
          </a:xfrm>
          <a:prstGeom prst="rect">
            <a:avLst/>
          </a:prstGeom>
        </p:spPr>
      </p:pic>
      <p:sp>
        <p:nvSpPr>
          <p:cNvPr id="11" name="object 11"/>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1</a:t>
            </a:fld>
            <a:endParaRPr spc="10" dirty="0"/>
          </a:p>
        </p:txBody>
      </p:sp>
      <p:sp>
        <p:nvSpPr>
          <p:cNvPr id="14" name="TextBox 13">
            <a:extLst>
              <a:ext uri="{FF2B5EF4-FFF2-40B4-BE49-F238E27FC236}">
                <a16:creationId xmlns:a16="http://schemas.microsoft.com/office/drawing/2014/main" id="{D55ADE35-C35B-07C1-F5AA-C33B3DDB802E}"/>
              </a:ext>
            </a:extLst>
          </p:cNvPr>
          <p:cNvSpPr txBox="1"/>
          <p:nvPr/>
        </p:nvSpPr>
        <p:spPr>
          <a:xfrm>
            <a:off x="2093594" y="3025289"/>
            <a:ext cx="8610600" cy="2677656"/>
          </a:xfrm>
          <a:prstGeom prst="rect">
            <a:avLst/>
          </a:prstGeom>
          <a:noFill/>
        </p:spPr>
        <p:txBody>
          <a:bodyPr wrap="square" lIns="91440" tIns="45720" rIns="91440" bIns="45720" rtlCol="0" anchor="t">
            <a:spAutoFit/>
          </a:bodyPr>
          <a:lstStyle/>
          <a:p>
            <a:r>
              <a:rPr lang="en-US" sz="2400" dirty="0"/>
              <a:t>STUDENT NAME: Pooja S </a:t>
            </a:r>
          </a:p>
          <a:p>
            <a:r>
              <a:rPr lang="en-US" sz="2400" dirty="0"/>
              <a:t>REGISTER NO AND NMID: 2428M0034, A850C5689BBFC3E827E4F58E357E02</a:t>
            </a:r>
          </a:p>
          <a:p>
            <a:r>
              <a:rPr lang="en-US" sz="2400" dirty="0"/>
              <a:t>0F DEPARTMENT: </a:t>
            </a:r>
            <a:r>
              <a:rPr lang="en-US" sz="2400" dirty="0" err="1"/>
              <a:t>Bsc</a:t>
            </a:r>
            <a:r>
              <a:rPr lang="en-US" sz="2400" dirty="0"/>
              <a:t> DATA SCIENCE </a:t>
            </a:r>
          </a:p>
          <a:p>
            <a:r>
              <a:rPr lang="en-US" sz="2400" dirty="0"/>
              <a:t>COLLEGE : Kumaraguru college of liberal arts </a:t>
            </a:r>
            <a:r>
              <a:rPr lang="en-US" sz="2400"/>
              <a:t>and science, BHARATHIYAR UNIVERSITY</a:t>
            </a:r>
          </a:p>
          <a:p>
            <a:r>
              <a:rPr lang="en-US" sz="2400"/>
              <a:t> </a:t>
            </a:r>
            <a:endParaRPr lang="en-IN"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2328" y="-4825"/>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wrap="square" lIns="0" tIns="0" rIns="0" bIns="0" rtlCol="0"/>
          <a:lstStyle/>
          <a:p>
            <a:endParaRPr dirty="0">
              <a:latin typeface="Times New Roman" panose="02020603050405020304" pitchFamily="18" charset="0"/>
              <a:cs typeface="Times New Roman" panose="02020603050405020304" pitchFamily="18" charset="0"/>
            </a:endParaRPr>
          </a:p>
        </p:txBody>
      </p:sp>
      <p:grpSp>
        <p:nvGrpSpPr>
          <p:cNvPr id="3" name="object 3"/>
          <p:cNvGrpSpPr/>
          <p:nvPr/>
        </p:nvGrpSpPr>
        <p:grpSpPr>
          <a:xfrm>
            <a:off x="7443849" y="0"/>
            <a:ext cx="4752975" cy="6863080"/>
            <a:chOff x="7443849" y="0"/>
            <a:chExt cx="4752975" cy="6863080"/>
          </a:xfrm>
        </p:grpSpPr>
        <p:sp>
          <p:nvSpPr>
            <p:cNvPr id="4" name="object 4"/>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5" name="object 5"/>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6" name="object 6"/>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7" name="object 7"/>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8" name="object 8"/>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9" name="object 9"/>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10" name="object 10"/>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11" name="object 11"/>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12" name="object 12"/>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grpSp>
      <p:sp>
        <p:nvSpPr>
          <p:cNvPr id="13" name="object 13"/>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14" name="object 14"/>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15" name="object 15"/>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16" name="object 16"/>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17" name="object 17"/>
          <p:cNvSpPr txBox="1">
            <a:spLocks noGrp="1"/>
          </p:cNvSpPr>
          <p:nvPr>
            <p:ph type="title"/>
          </p:nvPr>
        </p:nvSpPr>
        <p:spPr>
          <a:xfrm>
            <a:off x="739775" y="829627"/>
            <a:ext cx="3909695" cy="678180"/>
          </a:xfrm>
          <a:prstGeom prst="rect">
            <a:avLst/>
          </a:prstGeom>
        </p:spPr>
        <p:txBody>
          <a:bodyPr vert="horz" wrap="square" lIns="0" tIns="16510" rIns="0" bIns="0" rtlCol="0">
            <a:spAutoFit/>
          </a:bodyPr>
          <a:lstStyle/>
          <a:p>
            <a:pPr marL="12700">
              <a:lnSpc>
                <a:spcPct val="100000"/>
              </a:lnSpc>
              <a:spcBef>
                <a:spcPts val="130"/>
              </a:spcBef>
            </a:pPr>
            <a:r>
              <a:rPr sz="4250" spc="5" dirty="0"/>
              <a:t>PROJECT</a:t>
            </a:r>
            <a:r>
              <a:rPr sz="4250" spc="-85" dirty="0"/>
              <a:t> </a:t>
            </a:r>
            <a:r>
              <a:rPr sz="4250" spc="25" dirty="0"/>
              <a:t>TITLE</a:t>
            </a:r>
            <a:endParaRPr sz="4250" dirty="0"/>
          </a:p>
        </p:txBody>
      </p:sp>
      <p:grpSp>
        <p:nvGrpSpPr>
          <p:cNvPr id="18" name="object 18"/>
          <p:cNvGrpSpPr/>
          <p:nvPr/>
        </p:nvGrpSpPr>
        <p:grpSpPr>
          <a:xfrm>
            <a:off x="466725" y="6410325"/>
            <a:ext cx="3705225" cy="295275"/>
            <a:chOff x="466725" y="6410325"/>
            <a:chExt cx="3705225" cy="295275"/>
          </a:xfrm>
        </p:grpSpPr>
        <p:pic>
          <p:nvPicPr>
            <p:cNvPr id="19" name="object 19"/>
            <p:cNvPicPr/>
            <p:nvPr/>
          </p:nvPicPr>
          <p:blipFill>
            <a:blip r:embed="rId2" cstate="print"/>
            <a:stretch>
              <a:fillRect/>
            </a:stretch>
          </p:blipFill>
          <p:spPr>
            <a:xfrm>
              <a:off x="676275" y="6467475"/>
              <a:ext cx="2143125" cy="200025"/>
            </a:xfrm>
            <a:prstGeom prst="rect">
              <a:avLst/>
            </a:prstGeom>
          </p:spPr>
        </p:pic>
        <p:pic>
          <p:nvPicPr>
            <p:cNvPr id="20" name="object 20"/>
            <p:cNvPicPr/>
            <p:nvPr/>
          </p:nvPicPr>
          <p:blipFill>
            <a:blip r:embed="rId3" cstate="print"/>
            <a:stretch>
              <a:fillRect/>
            </a:stretch>
          </p:blipFill>
          <p:spPr>
            <a:xfrm>
              <a:off x="466725" y="6410325"/>
              <a:ext cx="3705225" cy="295275"/>
            </a:xfrm>
            <a:prstGeom prst="rect">
              <a:avLst/>
            </a:prstGeom>
          </p:spPr>
        </p:pic>
      </p:grpSp>
      <p:sp>
        <p:nvSpPr>
          <p:cNvPr id="22" name="object 22"/>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2</a:t>
            </a:fld>
            <a:endParaRPr spc="10" dirty="0"/>
          </a:p>
        </p:txBody>
      </p:sp>
      <p:sp>
        <p:nvSpPr>
          <p:cNvPr id="21" name="Rectangle 20">
            <a:extLst>
              <a:ext uri="{FF2B5EF4-FFF2-40B4-BE49-F238E27FC236}">
                <a16:creationId xmlns:a16="http://schemas.microsoft.com/office/drawing/2014/main" id="{80912AE6-C98D-BCD8-1E1D-648B610464C3}"/>
              </a:ext>
            </a:extLst>
          </p:cNvPr>
          <p:cNvSpPr/>
          <p:nvPr/>
        </p:nvSpPr>
        <p:spPr>
          <a:xfrm>
            <a:off x="720243" y="2394317"/>
            <a:ext cx="9065409" cy="2585323"/>
          </a:xfrm>
          <a:prstGeom prst="rect">
            <a:avLst/>
          </a:prstGeom>
          <a:noFill/>
        </p:spPr>
        <p:txBody>
          <a:bodyPr wrap="square" lIns="91440" tIns="45720" rIns="91440" bIns="45720">
            <a:spAutoFit/>
          </a:bodyPr>
          <a:lstStyle/>
          <a:p>
            <a:pPr algn="ctr"/>
            <a:r>
              <a:rPr lang="en-GB" sz="5400" dirty="0">
                <a:ln w="0"/>
                <a:solidFill>
                  <a:schemeClr val="accent1"/>
                </a:solidFill>
                <a:effectLst>
                  <a:outerShdw blurRad="38100" dist="25400" dir="5400000" algn="ctr" rotWithShape="0">
                    <a:srgbClr val="6E747A">
                      <a:alpha val="43000"/>
                    </a:srgbClr>
                  </a:outerShdw>
                </a:effectLst>
              </a:rPr>
              <a:t>Digital portfolio using front-end web development (HTML &amp; CSS)</a:t>
            </a:r>
            <a:endParaRPr lang="en-GB" sz="5400" b="0" cap="none" spc="0" dirty="0">
              <a:ln w="0"/>
              <a:solidFill>
                <a:schemeClr val="accent1"/>
              </a:solidFill>
              <a:effectLst>
                <a:outerShdw blurRad="38100" dist="25400" dir="5400000" algn="ctr" rotWithShape="0">
                  <a:srgbClr val="6E747A">
                    <a:alpha val="43000"/>
                  </a:srgbClr>
                </a:outerShdw>
              </a:effectLs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6200" y="28579"/>
            <a:ext cx="12481713"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wrap="square" lIns="0" tIns="0" rIns="0" bIns="0" rtlCol="0"/>
          <a:lstStyle/>
          <a:p>
            <a:endParaRPr dirty="0"/>
          </a:p>
        </p:txBody>
      </p:sp>
      <p:grpSp>
        <p:nvGrpSpPr>
          <p:cNvPr id="3" name="object 3"/>
          <p:cNvGrpSpPr/>
          <p:nvPr/>
        </p:nvGrpSpPr>
        <p:grpSpPr>
          <a:xfrm>
            <a:off x="7443849" y="0"/>
            <a:ext cx="4752975" cy="6863080"/>
            <a:chOff x="7443849" y="0"/>
            <a:chExt cx="4752975" cy="6863080"/>
          </a:xfrm>
        </p:grpSpPr>
        <p:sp>
          <p:nvSpPr>
            <p:cNvPr id="4" name="object 4"/>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5" name="object 5"/>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6" name="object 6"/>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7" name="object 7"/>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8" name="object 8"/>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9" name="object 9"/>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10" name="object 10"/>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11" name="object 11"/>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12" name="object 12"/>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grpSp>
      <p:sp>
        <p:nvSpPr>
          <p:cNvPr id="13" name="object 13"/>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14" name="object 14"/>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15" name="object 15"/>
          <p:cNvSpPr/>
          <p:nvPr/>
        </p:nvSpPr>
        <p:spPr>
          <a:xfrm>
            <a:off x="7362825" y="447675"/>
            <a:ext cx="361950" cy="361950"/>
          </a:xfrm>
          <a:custGeom>
            <a:avLst/>
            <a:gdLst/>
            <a:ahLst/>
            <a:cxnLst/>
            <a:rect l="l" t="t" r="r" b="b"/>
            <a:pathLst>
              <a:path w="361950" h="361950">
                <a:moveTo>
                  <a:pt x="180975" y="0"/>
                </a:moveTo>
                <a:lnTo>
                  <a:pt x="132864" y="6464"/>
                </a:lnTo>
                <a:lnTo>
                  <a:pt x="89633" y="24708"/>
                </a:lnTo>
                <a:lnTo>
                  <a:pt x="53006" y="53006"/>
                </a:lnTo>
                <a:lnTo>
                  <a:pt x="24708" y="89633"/>
                </a:lnTo>
                <a:lnTo>
                  <a:pt x="6464" y="132864"/>
                </a:lnTo>
                <a:lnTo>
                  <a:pt x="0" y="180975"/>
                </a:lnTo>
                <a:lnTo>
                  <a:pt x="6464" y="229085"/>
                </a:lnTo>
                <a:lnTo>
                  <a:pt x="24708" y="272316"/>
                </a:lnTo>
                <a:lnTo>
                  <a:pt x="53006" y="308943"/>
                </a:lnTo>
                <a:lnTo>
                  <a:pt x="89633" y="337241"/>
                </a:lnTo>
                <a:lnTo>
                  <a:pt x="132864" y="355485"/>
                </a:lnTo>
                <a:lnTo>
                  <a:pt x="180975" y="361950"/>
                </a:lnTo>
                <a:lnTo>
                  <a:pt x="229085" y="355485"/>
                </a:lnTo>
                <a:lnTo>
                  <a:pt x="272316" y="337241"/>
                </a:lnTo>
                <a:lnTo>
                  <a:pt x="308943" y="308943"/>
                </a:lnTo>
                <a:lnTo>
                  <a:pt x="337241" y="272316"/>
                </a:lnTo>
                <a:lnTo>
                  <a:pt x="355485" y="229085"/>
                </a:lnTo>
                <a:lnTo>
                  <a:pt x="361950" y="180975"/>
                </a:lnTo>
                <a:lnTo>
                  <a:pt x="355485" y="132864"/>
                </a:lnTo>
                <a:lnTo>
                  <a:pt x="337241" y="89633"/>
                </a:lnTo>
                <a:lnTo>
                  <a:pt x="308943" y="53006"/>
                </a:lnTo>
                <a:lnTo>
                  <a:pt x="272316" y="24708"/>
                </a:lnTo>
                <a:lnTo>
                  <a:pt x="229085" y="6464"/>
                </a:lnTo>
                <a:lnTo>
                  <a:pt x="180975" y="0"/>
                </a:lnTo>
                <a:close/>
              </a:path>
            </a:pathLst>
          </a:custGeom>
          <a:solidFill>
            <a:srgbClr val="EBEBEB"/>
          </a:solidFill>
        </p:spPr>
        <p:txBody>
          <a:bodyPr wrap="square" lIns="0" tIns="0" rIns="0" bIns="0" rtlCol="0"/>
          <a:lstStyle/>
          <a:p>
            <a:endParaRPr/>
          </a:p>
        </p:txBody>
      </p:sp>
      <p:sp>
        <p:nvSpPr>
          <p:cNvPr id="16" name="object 16"/>
          <p:cNvSpPr/>
          <p:nvPr/>
        </p:nvSpPr>
        <p:spPr>
          <a:xfrm>
            <a:off x="11010900" y="5610225"/>
            <a:ext cx="647700" cy="647700"/>
          </a:xfrm>
          <a:custGeom>
            <a:avLst/>
            <a:gdLst/>
            <a:ahLst/>
            <a:cxnLst/>
            <a:rect l="l" t="t" r="r" b="b"/>
            <a:pathLst>
              <a:path w="647700" h="647700">
                <a:moveTo>
                  <a:pt x="323850" y="0"/>
                </a:moveTo>
                <a:lnTo>
                  <a:pt x="276003" y="3511"/>
                </a:lnTo>
                <a:lnTo>
                  <a:pt x="230332" y="13711"/>
                </a:lnTo>
                <a:lnTo>
                  <a:pt x="187340" y="30099"/>
                </a:lnTo>
                <a:lnTo>
                  <a:pt x="147528" y="52175"/>
                </a:lnTo>
                <a:lnTo>
                  <a:pt x="111397" y="79436"/>
                </a:lnTo>
                <a:lnTo>
                  <a:pt x="79448" y="111381"/>
                </a:lnTo>
                <a:lnTo>
                  <a:pt x="52184" y="147511"/>
                </a:lnTo>
                <a:lnTo>
                  <a:pt x="30106" y="187324"/>
                </a:lnTo>
                <a:lnTo>
                  <a:pt x="13714" y="230319"/>
                </a:lnTo>
                <a:lnTo>
                  <a:pt x="3512" y="275994"/>
                </a:lnTo>
                <a:lnTo>
                  <a:pt x="0" y="323850"/>
                </a:lnTo>
                <a:lnTo>
                  <a:pt x="3512" y="371705"/>
                </a:lnTo>
                <a:lnTo>
                  <a:pt x="13714" y="417380"/>
                </a:lnTo>
                <a:lnTo>
                  <a:pt x="30106" y="460375"/>
                </a:lnTo>
                <a:lnTo>
                  <a:pt x="52184" y="500188"/>
                </a:lnTo>
                <a:lnTo>
                  <a:pt x="79448" y="536318"/>
                </a:lnTo>
                <a:lnTo>
                  <a:pt x="111397" y="568263"/>
                </a:lnTo>
                <a:lnTo>
                  <a:pt x="147528" y="595524"/>
                </a:lnTo>
                <a:lnTo>
                  <a:pt x="187340" y="617600"/>
                </a:lnTo>
                <a:lnTo>
                  <a:pt x="230332" y="633988"/>
                </a:lnTo>
                <a:lnTo>
                  <a:pt x="276003" y="644188"/>
                </a:lnTo>
                <a:lnTo>
                  <a:pt x="323850" y="647700"/>
                </a:lnTo>
                <a:lnTo>
                  <a:pt x="371696" y="644188"/>
                </a:lnTo>
                <a:lnTo>
                  <a:pt x="417367" y="633988"/>
                </a:lnTo>
                <a:lnTo>
                  <a:pt x="460359" y="617600"/>
                </a:lnTo>
                <a:lnTo>
                  <a:pt x="500171" y="595524"/>
                </a:lnTo>
                <a:lnTo>
                  <a:pt x="536302" y="568263"/>
                </a:lnTo>
                <a:lnTo>
                  <a:pt x="568251" y="536318"/>
                </a:lnTo>
                <a:lnTo>
                  <a:pt x="595515" y="500188"/>
                </a:lnTo>
                <a:lnTo>
                  <a:pt x="617593" y="460375"/>
                </a:lnTo>
                <a:lnTo>
                  <a:pt x="633985" y="417380"/>
                </a:lnTo>
                <a:lnTo>
                  <a:pt x="644187" y="371705"/>
                </a:lnTo>
                <a:lnTo>
                  <a:pt x="647700" y="323850"/>
                </a:lnTo>
                <a:lnTo>
                  <a:pt x="644187" y="275994"/>
                </a:lnTo>
                <a:lnTo>
                  <a:pt x="633985" y="230319"/>
                </a:lnTo>
                <a:lnTo>
                  <a:pt x="617593" y="187324"/>
                </a:lnTo>
                <a:lnTo>
                  <a:pt x="595515" y="147511"/>
                </a:lnTo>
                <a:lnTo>
                  <a:pt x="568251" y="111381"/>
                </a:lnTo>
                <a:lnTo>
                  <a:pt x="536302" y="79436"/>
                </a:lnTo>
                <a:lnTo>
                  <a:pt x="500171" y="52175"/>
                </a:lnTo>
                <a:lnTo>
                  <a:pt x="460359" y="30099"/>
                </a:lnTo>
                <a:lnTo>
                  <a:pt x="417367" y="13711"/>
                </a:lnTo>
                <a:lnTo>
                  <a:pt x="371696" y="3511"/>
                </a:lnTo>
                <a:lnTo>
                  <a:pt x="323850" y="0"/>
                </a:lnTo>
                <a:close/>
              </a:path>
            </a:pathLst>
          </a:custGeom>
          <a:solidFill>
            <a:srgbClr val="2D83C3"/>
          </a:solidFill>
        </p:spPr>
        <p:txBody>
          <a:bodyPr wrap="square" lIns="0" tIns="0" rIns="0" bIns="0" rtlCol="0"/>
          <a:lstStyle/>
          <a:p>
            <a:endParaRPr/>
          </a:p>
        </p:txBody>
      </p:sp>
      <p:pic>
        <p:nvPicPr>
          <p:cNvPr id="17" name="object 17"/>
          <p:cNvPicPr/>
          <p:nvPr/>
        </p:nvPicPr>
        <p:blipFill>
          <a:blip r:embed="rId2" cstate="print"/>
          <a:stretch>
            <a:fillRect/>
          </a:stretch>
        </p:blipFill>
        <p:spPr>
          <a:xfrm>
            <a:off x="10687050" y="6134100"/>
            <a:ext cx="247650" cy="247650"/>
          </a:xfrm>
          <a:prstGeom prst="rect">
            <a:avLst/>
          </a:prstGeom>
        </p:spPr>
      </p:pic>
      <p:grpSp>
        <p:nvGrpSpPr>
          <p:cNvPr id="18" name="object 18"/>
          <p:cNvGrpSpPr/>
          <p:nvPr/>
        </p:nvGrpSpPr>
        <p:grpSpPr>
          <a:xfrm>
            <a:off x="47625" y="3819523"/>
            <a:ext cx="4124325" cy="3009900"/>
            <a:chOff x="47625" y="3819523"/>
            <a:chExt cx="4124325" cy="3009900"/>
          </a:xfrm>
        </p:grpSpPr>
        <p:pic>
          <p:nvPicPr>
            <p:cNvPr id="19" name="object 19"/>
            <p:cNvPicPr/>
            <p:nvPr/>
          </p:nvPicPr>
          <p:blipFill>
            <a:blip r:embed="rId3" cstate="print"/>
            <a:stretch>
              <a:fillRect/>
            </a:stretch>
          </p:blipFill>
          <p:spPr>
            <a:xfrm>
              <a:off x="466725" y="6410325"/>
              <a:ext cx="3705225" cy="295275"/>
            </a:xfrm>
            <a:prstGeom prst="rect">
              <a:avLst/>
            </a:prstGeom>
          </p:spPr>
        </p:pic>
        <p:pic>
          <p:nvPicPr>
            <p:cNvPr id="20" name="object 20"/>
            <p:cNvPicPr/>
            <p:nvPr/>
          </p:nvPicPr>
          <p:blipFill>
            <a:blip r:embed="rId4" cstate="print"/>
            <a:stretch>
              <a:fillRect/>
            </a:stretch>
          </p:blipFill>
          <p:spPr>
            <a:xfrm>
              <a:off x="47625" y="3819523"/>
              <a:ext cx="1733550" cy="3009898"/>
            </a:xfrm>
            <a:prstGeom prst="rect">
              <a:avLst/>
            </a:prstGeom>
          </p:spPr>
        </p:pic>
      </p:grpSp>
      <p:sp>
        <p:nvSpPr>
          <p:cNvPr id="21" name="object 21"/>
          <p:cNvSpPr txBox="1">
            <a:spLocks noGrp="1"/>
          </p:cNvSpPr>
          <p:nvPr>
            <p:ph type="title"/>
          </p:nvPr>
        </p:nvSpPr>
        <p:spPr>
          <a:xfrm>
            <a:off x="739775" y="445388"/>
            <a:ext cx="2357120" cy="758190"/>
          </a:xfrm>
          <a:prstGeom prst="rect">
            <a:avLst/>
          </a:prstGeom>
        </p:spPr>
        <p:txBody>
          <a:bodyPr vert="horz" wrap="square" lIns="0" tIns="13335" rIns="0" bIns="0" rtlCol="0">
            <a:spAutoFit/>
          </a:bodyPr>
          <a:lstStyle/>
          <a:p>
            <a:pPr marL="12700">
              <a:lnSpc>
                <a:spcPct val="100000"/>
              </a:lnSpc>
              <a:spcBef>
                <a:spcPts val="105"/>
              </a:spcBef>
            </a:pPr>
            <a:r>
              <a:rPr spc="25" dirty="0"/>
              <a:t>A</a:t>
            </a:r>
            <a:r>
              <a:rPr spc="-5" dirty="0"/>
              <a:t>G</a:t>
            </a:r>
            <a:r>
              <a:rPr spc="-35" dirty="0"/>
              <a:t>E</a:t>
            </a:r>
            <a:r>
              <a:rPr spc="15" dirty="0"/>
              <a:t>N</a:t>
            </a:r>
            <a:r>
              <a:rPr dirty="0"/>
              <a:t>DA</a:t>
            </a:r>
          </a:p>
        </p:txBody>
      </p:sp>
      <p:sp>
        <p:nvSpPr>
          <p:cNvPr id="22" name="object 22"/>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3</a:t>
            </a:fld>
            <a:endParaRPr spc="10" dirty="0"/>
          </a:p>
        </p:txBody>
      </p:sp>
      <p:sp>
        <p:nvSpPr>
          <p:cNvPr id="23" name="TextBox 22">
            <a:extLst>
              <a:ext uri="{FF2B5EF4-FFF2-40B4-BE49-F238E27FC236}">
                <a16:creationId xmlns:a16="http://schemas.microsoft.com/office/drawing/2014/main" id="{D0827FA3-A9D4-0FE5-45BE-664C8C920E82}"/>
              </a:ext>
            </a:extLst>
          </p:cNvPr>
          <p:cNvSpPr txBox="1"/>
          <p:nvPr/>
        </p:nvSpPr>
        <p:spPr>
          <a:xfrm>
            <a:off x="2509807" y="1041533"/>
            <a:ext cx="5029200" cy="4832092"/>
          </a:xfrm>
          <a:prstGeom prst="rect">
            <a:avLst/>
          </a:prstGeom>
          <a:noFill/>
        </p:spPr>
        <p:txBody>
          <a:bodyPr wrap="square" rtlCol="0">
            <a:spAutoFit/>
          </a:bodyPr>
          <a:lstStyle/>
          <a:p>
            <a:pPr algn="l"/>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Problem Statement</a:t>
            </a: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Project Overview</a:t>
            </a: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End Users</a:t>
            </a:r>
          </a:p>
          <a:p>
            <a:pPr algn="l">
              <a:buFont typeface="+mj-lt"/>
              <a:buAutoNum type="arabicPeriod"/>
            </a:pPr>
            <a:r>
              <a:rPr lang="en-US" sz="2800" dirty="0">
                <a:solidFill>
                  <a:srgbClr val="0D0D0D"/>
                </a:solidFill>
                <a:latin typeface="Times New Roman" panose="02020603050405020304" pitchFamily="18" charset="0"/>
                <a:cs typeface="Times New Roman" panose="02020603050405020304" pitchFamily="18" charset="0"/>
              </a:rPr>
              <a:t>Tools and Technologies</a:t>
            </a:r>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Portfolio design and Layout</a:t>
            </a:r>
          </a:p>
          <a:p>
            <a:pPr algn="l">
              <a:buFont typeface="+mj-lt"/>
              <a:buAutoNum type="arabicPeriod"/>
            </a:pPr>
            <a:r>
              <a:rPr lang="en-US" sz="2800" dirty="0">
                <a:solidFill>
                  <a:srgbClr val="0D0D0D"/>
                </a:solidFill>
                <a:latin typeface="Times New Roman" panose="02020603050405020304" pitchFamily="18" charset="0"/>
                <a:cs typeface="Times New Roman" panose="02020603050405020304" pitchFamily="18" charset="0"/>
              </a:rPr>
              <a:t>Features and Functionality</a:t>
            </a:r>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Results and </a:t>
            </a:r>
            <a:r>
              <a:rPr lang="en-US" sz="2800" dirty="0">
                <a:solidFill>
                  <a:srgbClr val="0D0D0D"/>
                </a:solidFill>
                <a:latin typeface="Times New Roman" panose="02020603050405020304" pitchFamily="18" charset="0"/>
                <a:cs typeface="Times New Roman" panose="02020603050405020304" pitchFamily="18" charset="0"/>
              </a:rPr>
              <a:t>Screenshots</a:t>
            </a:r>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Conclusion</a:t>
            </a:r>
          </a:p>
          <a:p>
            <a:pPr algn="l">
              <a:buFont typeface="+mj-lt"/>
              <a:buAutoNum type="arabicPeriod"/>
            </a:pPr>
            <a:r>
              <a:rPr lang="en-US" sz="2800" dirty="0" err="1">
                <a:solidFill>
                  <a:srgbClr val="0D0D0D"/>
                </a:solidFill>
                <a:latin typeface="Times New Roman" panose="02020603050405020304" pitchFamily="18" charset="0"/>
                <a:cs typeface="Times New Roman" panose="02020603050405020304" pitchFamily="18" charset="0"/>
              </a:rPr>
              <a:t>Github</a:t>
            </a:r>
            <a:r>
              <a:rPr lang="en-US" sz="2800" dirty="0">
                <a:solidFill>
                  <a:srgbClr val="0D0D0D"/>
                </a:solidFill>
                <a:latin typeface="Times New Roman" panose="02020603050405020304" pitchFamily="18" charset="0"/>
                <a:cs typeface="Times New Roman" panose="02020603050405020304" pitchFamily="18" charset="0"/>
              </a:rPr>
              <a:t> Link</a:t>
            </a:r>
            <a:endParaRPr lang="en-US" sz="2800" b="0" i="0" dirty="0">
              <a:solidFill>
                <a:srgbClr val="0D0D0D"/>
              </a:solidFill>
              <a:effectLst/>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180193" y="3126568"/>
            <a:ext cx="2762250" cy="3257550"/>
            <a:chOff x="7991475" y="2933700"/>
            <a:chExt cx="2762250" cy="325755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5" name="object 5"/>
            <p:cNvPicPr/>
            <p:nvPr/>
          </p:nvPicPr>
          <p:blipFill>
            <a:blip r:embed="rId2" cstate="print"/>
            <a:stretch>
              <a:fillRect/>
            </a:stretch>
          </p:blipFill>
          <p:spPr>
            <a:xfrm>
              <a:off x="7991475" y="2933700"/>
              <a:ext cx="2762250" cy="3257550"/>
            </a:xfrm>
            <a:prstGeom prst="rect">
              <a:avLst/>
            </a:prstGeom>
          </p:spPr>
        </p:pic>
      </p:grpSp>
      <p:sp>
        <p:nvSpPr>
          <p:cNvPr id="7" name="object 7"/>
          <p:cNvSpPr txBox="1">
            <a:spLocks noGrp="1"/>
          </p:cNvSpPr>
          <p:nvPr>
            <p:ph type="title"/>
          </p:nvPr>
        </p:nvSpPr>
        <p:spPr>
          <a:xfrm>
            <a:off x="834072" y="575055"/>
            <a:ext cx="5636895" cy="678180"/>
          </a:xfrm>
          <a:prstGeom prst="rect">
            <a:avLst/>
          </a:prstGeom>
        </p:spPr>
        <p:txBody>
          <a:bodyPr vert="horz" wrap="square" lIns="0" tIns="16510" rIns="0" bIns="0" rtlCol="0">
            <a:spAutoFit/>
          </a:bodyPr>
          <a:lstStyle/>
          <a:p>
            <a:pPr marL="12700">
              <a:lnSpc>
                <a:spcPct val="100000"/>
              </a:lnSpc>
              <a:spcBef>
                <a:spcPts val="130"/>
              </a:spcBef>
              <a:tabLst>
                <a:tab pos="2727960" algn="l"/>
              </a:tabLst>
            </a:pPr>
            <a:r>
              <a:rPr sz="4250" spc="-20" dirty="0"/>
              <a:t>P</a:t>
            </a:r>
            <a:r>
              <a:rPr sz="4250" spc="15" dirty="0"/>
              <a:t>ROB</a:t>
            </a:r>
            <a:r>
              <a:rPr sz="4250" spc="55" dirty="0"/>
              <a:t>L</a:t>
            </a:r>
            <a:r>
              <a:rPr sz="4250" spc="-20" dirty="0"/>
              <a:t>E</a:t>
            </a:r>
            <a:r>
              <a:rPr sz="4250" spc="20" dirty="0"/>
              <a:t>M</a:t>
            </a:r>
            <a:r>
              <a:rPr sz="4250" dirty="0"/>
              <a:t>	</a:t>
            </a:r>
            <a:r>
              <a:rPr sz="4250" spc="10" dirty="0"/>
              <a:t>S</a:t>
            </a:r>
            <a:r>
              <a:rPr sz="4250" spc="-370" dirty="0"/>
              <a:t>T</a:t>
            </a:r>
            <a:r>
              <a:rPr sz="4250" spc="-375" dirty="0"/>
              <a:t>A</a:t>
            </a:r>
            <a:r>
              <a:rPr sz="4250" spc="15" dirty="0"/>
              <a:t>T</a:t>
            </a:r>
            <a:r>
              <a:rPr sz="4250" spc="-10" dirty="0"/>
              <a:t>E</a:t>
            </a:r>
            <a:r>
              <a:rPr sz="4250" spc="-20" dirty="0"/>
              <a:t>ME</a:t>
            </a:r>
            <a:r>
              <a:rPr sz="4250" spc="10" dirty="0"/>
              <a:t>NT</a:t>
            </a:r>
            <a:endParaRPr sz="4250"/>
          </a:p>
        </p:txBody>
      </p:sp>
      <p:pic>
        <p:nvPicPr>
          <p:cNvPr id="8" name="object 8"/>
          <p:cNvPicPr/>
          <p:nvPr/>
        </p:nvPicPr>
        <p:blipFill>
          <a:blip r:embed="rId3" cstate="print"/>
          <a:stretch>
            <a:fillRect/>
          </a:stretch>
        </p:blipFill>
        <p:spPr>
          <a:xfrm>
            <a:off x="676275" y="6467475"/>
            <a:ext cx="2143125" cy="200025"/>
          </a:xfrm>
          <a:prstGeom prst="rect">
            <a:avLst/>
          </a:prstGeom>
        </p:spPr>
      </p:pic>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4</a:t>
            </a:fld>
            <a:endParaRPr spc="10" dirty="0"/>
          </a:p>
        </p:txBody>
      </p:sp>
      <p:sp>
        <p:nvSpPr>
          <p:cNvPr id="9" name="Rectangle 8">
            <a:extLst>
              <a:ext uri="{FF2B5EF4-FFF2-40B4-BE49-F238E27FC236}">
                <a16:creationId xmlns:a16="http://schemas.microsoft.com/office/drawing/2014/main" id="{F3237F85-2EC5-7752-1B14-5AE6346D5646}"/>
              </a:ext>
            </a:extLst>
          </p:cNvPr>
          <p:cNvSpPr/>
          <p:nvPr/>
        </p:nvSpPr>
        <p:spPr>
          <a:xfrm>
            <a:off x="257177" y="1477523"/>
            <a:ext cx="10182223" cy="5262979"/>
          </a:xfrm>
          <a:prstGeom prst="rect">
            <a:avLst/>
          </a:prstGeom>
          <a:noFill/>
        </p:spPr>
        <p:txBody>
          <a:bodyPr wrap="square" lIns="91440" tIns="45720" rIns="91440" bIns="45720">
            <a:spAutoFit/>
          </a:bodyPr>
          <a:lstStyle/>
          <a:p>
            <a:pPr algn="ctr"/>
            <a:r>
              <a:rPr lang="en-GB" sz="2800" dirty="0">
                <a:ln w="0"/>
                <a:effectLst>
                  <a:outerShdw blurRad="38100" dist="19050" dir="2700000" algn="tl" rotWithShape="0">
                    <a:schemeClr val="dk1">
                      <a:alpha val="40000"/>
                    </a:schemeClr>
                  </a:outerShdw>
                </a:effectLst>
              </a:rPr>
              <a:t> In today's competitive world, traditional resumes or paper/text- based portfolios fail to showcase an individual’s </a:t>
            </a:r>
          </a:p>
          <a:p>
            <a:pPr algn="ctr"/>
            <a:r>
              <a:rPr lang="en-GB" sz="2800" dirty="0">
                <a:ln w="0"/>
                <a:effectLst>
                  <a:outerShdw blurRad="38100" dist="19050" dir="2700000" algn="tl" rotWithShape="0">
                    <a:schemeClr val="dk1">
                      <a:alpha val="40000"/>
                    </a:schemeClr>
                  </a:outerShdw>
                </a:effectLst>
              </a:rPr>
              <a:t>skills and abilities full fledged. Aswell recruiters find it difficult to assess the practical abilities through static documents alone.</a:t>
            </a:r>
          </a:p>
          <a:p>
            <a:pPr algn="ctr"/>
            <a:r>
              <a:rPr lang="en-GB" sz="2800" dirty="0">
                <a:ln w="0"/>
                <a:effectLst>
                  <a:outerShdw blurRad="38100" dist="19050" dir="2700000" algn="tl" rotWithShape="0">
                    <a:schemeClr val="dk1">
                      <a:alpha val="40000"/>
                    </a:schemeClr>
                  </a:outerShdw>
                </a:effectLst>
              </a:rPr>
              <a:t> So here comes the need for a visually appealing, and easily accessible web pages/platforms where individuals will be able to present all their </a:t>
            </a:r>
          </a:p>
          <a:p>
            <a:pPr algn="ctr"/>
            <a:r>
              <a:rPr lang="en-GB" sz="2800" dirty="0">
                <a:ln w="0"/>
                <a:effectLst>
                  <a:outerShdw blurRad="38100" dist="19050" dir="2700000" algn="tl" rotWithShape="0">
                    <a:schemeClr val="dk1">
                      <a:alpha val="40000"/>
                    </a:schemeClr>
                  </a:outerShdw>
                </a:effectLst>
              </a:rPr>
              <a:t>achievements and activities and experiences in a professional way. This project “Digital Portfolio using Front- End Web Development (HTML &amp; CSS)”, </a:t>
            </a:r>
          </a:p>
          <a:p>
            <a:pPr algn="ctr"/>
            <a:r>
              <a:rPr lang="en-GB" sz="2800" dirty="0">
                <a:ln w="0"/>
                <a:effectLst>
                  <a:outerShdw blurRad="38100" dist="19050" dir="2700000" algn="tl" rotWithShape="0">
                    <a:schemeClr val="dk1">
                      <a:alpha val="40000"/>
                    </a:schemeClr>
                  </a:outerShdw>
                </a:effectLst>
              </a:rPr>
              <a:t>provides a structured, user friendly and calm platform to highlight their personal and professional accomplishments</a:t>
            </a:r>
            <a:endParaRPr lang="en-GB" sz="2800" b="0" cap="none" spc="0" dirty="0">
              <a:ln w="0"/>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658225" y="2647950"/>
            <a:ext cx="3533775" cy="3810000"/>
            <a:chOff x="8658225" y="2647950"/>
            <a:chExt cx="3533775" cy="381000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5" name="object 5"/>
            <p:cNvPicPr/>
            <p:nvPr/>
          </p:nvPicPr>
          <p:blipFill>
            <a:blip r:embed="rId2" cstate="print"/>
            <a:stretch>
              <a:fillRect/>
            </a:stretch>
          </p:blipFill>
          <p:spPr>
            <a:xfrm>
              <a:off x="8658225" y="2647950"/>
              <a:ext cx="3533775" cy="3810000"/>
            </a:xfrm>
            <a:prstGeom prst="rect">
              <a:avLst/>
            </a:prstGeom>
          </p:spPr>
        </p:pic>
      </p:grpSp>
      <p:sp>
        <p:nvSpPr>
          <p:cNvPr id="7" name="object 7"/>
          <p:cNvSpPr txBox="1">
            <a:spLocks noGrp="1"/>
          </p:cNvSpPr>
          <p:nvPr>
            <p:ph type="title"/>
          </p:nvPr>
        </p:nvSpPr>
        <p:spPr>
          <a:xfrm>
            <a:off x="739775" y="829627"/>
            <a:ext cx="5263515" cy="678180"/>
          </a:xfrm>
          <a:prstGeom prst="rect">
            <a:avLst/>
          </a:prstGeom>
        </p:spPr>
        <p:txBody>
          <a:bodyPr vert="horz" wrap="square" lIns="0" tIns="16510" rIns="0" bIns="0" rtlCol="0">
            <a:spAutoFit/>
          </a:bodyPr>
          <a:lstStyle/>
          <a:p>
            <a:pPr marL="12700">
              <a:lnSpc>
                <a:spcPct val="100000"/>
              </a:lnSpc>
              <a:spcBef>
                <a:spcPts val="130"/>
              </a:spcBef>
              <a:tabLst>
                <a:tab pos="2642870" algn="l"/>
              </a:tabLst>
            </a:pPr>
            <a:r>
              <a:rPr sz="4250" spc="5" dirty="0"/>
              <a:t>PROJECT	</a:t>
            </a:r>
            <a:r>
              <a:rPr sz="4250" spc="-20" dirty="0"/>
              <a:t>OVERVIEW</a:t>
            </a:r>
            <a:endParaRPr sz="4250"/>
          </a:p>
        </p:txBody>
      </p:sp>
      <p:pic>
        <p:nvPicPr>
          <p:cNvPr id="8" name="object 8"/>
          <p:cNvPicPr/>
          <p:nvPr/>
        </p:nvPicPr>
        <p:blipFill>
          <a:blip r:embed="rId3" cstate="print"/>
          <a:stretch>
            <a:fillRect/>
          </a:stretch>
        </p:blipFill>
        <p:spPr>
          <a:xfrm>
            <a:off x="676275" y="6467475"/>
            <a:ext cx="2143125" cy="200025"/>
          </a:xfrm>
          <a:prstGeom prst="rect">
            <a:avLst/>
          </a:prstGeom>
        </p:spPr>
      </p:pic>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5</a:t>
            </a:fld>
            <a:endParaRPr spc="10" dirty="0"/>
          </a:p>
        </p:txBody>
      </p:sp>
      <p:sp>
        <p:nvSpPr>
          <p:cNvPr id="9" name="Rectangle 8">
            <a:extLst>
              <a:ext uri="{FF2B5EF4-FFF2-40B4-BE49-F238E27FC236}">
                <a16:creationId xmlns:a16="http://schemas.microsoft.com/office/drawing/2014/main" id="{71964B7E-5DED-F2E5-2AE7-92C5E0D5F9E4}"/>
              </a:ext>
            </a:extLst>
          </p:cNvPr>
          <p:cNvSpPr/>
          <p:nvPr/>
        </p:nvSpPr>
        <p:spPr>
          <a:xfrm>
            <a:off x="1447800" y="1714500"/>
            <a:ext cx="6553199" cy="4893647"/>
          </a:xfrm>
          <a:prstGeom prst="rect">
            <a:avLst/>
          </a:prstGeom>
          <a:noFill/>
        </p:spPr>
        <p:txBody>
          <a:bodyPr wrap="square" lIns="91440" tIns="45720" rIns="91440" bIns="45720">
            <a:spAutoFit/>
          </a:bodyPr>
          <a:lstStyle/>
          <a:p>
            <a:pPr algn="ctr"/>
            <a:r>
              <a:rPr lang="en-GB" sz="2400" dirty="0" err="1">
                <a:ln w="0"/>
                <a:effectLst>
                  <a:outerShdw blurRad="38100" dist="19050" dir="2700000" algn="tl" rotWithShape="0">
                    <a:schemeClr val="dk1">
                      <a:alpha val="40000"/>
                    </a:schemeClr>
                  </a:outerShdw>
                </a:effectLst>
              </a:rPr>
              <a:t>OVERVIEWeloped</a:t>
            </a:r>
            <a:r>
              <a:rPr lang="en-GB" sz="2400" dirty="0">
                <a:ln w="0"/>
                <a:effectLst>
                  <a:outerShdw blurRad="38100" dist="19050" dir="2700000" algn="tl" rotWithShape="0">
                    <a:schemeClr val="dk1">
                      <a:alpha val="40000"/>
                    </a:schemeClr>
                  </a:outerShdw>
                </a:effectLst>
              </a:rPr>
              <a:t> as an interactive web design that is built using Front-End Web Development (HTML &amp; CSS). It serves as a personal professional platform that allows an individual to showcase all their talents and accomplishments in a structured and engaging manner. The portfolio is designed in a user-friendly manner, that makes it suitable for academic and as well networking opportunities that allows to develop their career. By combining clean design with functional web elements, this portfolio goes beyond a traditional resume to provide a dynamic representation of my technical and creative journey.</a:t>
            </a:r>
            <a:endParaRPr lang="en-GB" sz="2400" b="0" cap="none" spc="0" dirty="0">
              <a:ln w="0"/>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3" name="object 3"/>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5" name="object 5"/>
          <p:cNvSpPr txBox="1">
            <a:spLocks noGrp="1"/>
          </p:cNvSpPr>
          <p:nvPr>
            <p:ph type="title"/>
          </p:nvPr>
        </p:nvSpPr>
        <p:spPr>
          <a:xfrm>
            <a:off x="699452" y="891793"/>
            <a:ext cx="5014595" cy="518159"/>
          </a:xfrm>
          <a:prstGeom prst="rect">
            <a:avLst/>
          </a:prstGeom>
        </p:spPr>
        <p:txBody>
          <a:bodyPr vert="horz" wrap="square" lIns="0" tIns="16510" rIns="0" bIns="0" rtlCol="0">
            <a:spAutoFit/>
          </a:bodyPr>
          <a:lstStyle/>
          <a:p>
            <a:pPr marL="12700">
              <a:lnSpc>
                <a:spcPct val="100000"/>
              </a:lnSpc>
              <a:spcBef>
                <a:spcPts val="130"/>
              </a:spcBef>
            </a:pPr>
            <a:r>
              <a:rPr sz="3200" spc="25" dirty="0"/>
              <a:t>W</a:t>
            </a:r>
            <a:r>
              <a:rPr sz="3200" spc="-20" dirty="0"/>
              <a:t>H</a:t>
            </a:r>
            <a:r>
              <a:rPr sz="3200" spc="20" dirty="0"/>
              <a:t>O</a:t>
            </a:r>
            <a:r>
              <a:rPr sz="3200" spc="-235" dirty="0"/>
              <a:t> </a:t>
            </a:r>
            <a:r>
              <a:rPr sz="3200" spc="-10" dirty="0"/>
              <a:t>AR</a:t>
            </a:r>
            <a:r>
              <a:rPr sz="3200" spc="15" dirty="0"/>
              <a:t>E</a:t>
            </a:r>
            <a:r>
              <a:rPr sz="3200" spc="-35" dirty="0"/>
              <a:t> </a:t>
            </a:r>
            <a:r>
              <a:rPr sz="3200" spc="-10" dirty="0"/>
              <a:t>T</a:t>
            </a:r>
            <a:r>
              <a:rPr sz="3200" spc="-15" dirty="0"/>
              <a:t>H</a:t>
            </a:r>
            <a:r>
              <a:rPr sz="3200" spc="15" dirty="0"/>
              <a:t>E</a:t>
            </a:r>
            <a:r>
              <a:rPr sz="3200" spc="-35" dirty="0"/>
              <a:t> </a:t>
            </a:r>
            <a:r>
              <a:rPr sz="3200" spc="-20" dirty="0"/>
              <a:t>E</a:t>
            </a:r>
            <a:r>
              <a:rPr sz="3200" spc="30" dirty="0"/>
              <a:t>N</a:t>
            </a:r>
            <a:r>
              <a:rPr sz="3200" spc="15" dirty="0"/>
              <a:t>D</a:t>
            </a:r>
            <a:r>
              <a:rPr sz="3200" spc="-45" dirty="0"/>
              <a:t> </a:t>
            </a:r>
            <a:r>
              <a:rPr sz="3200" dirty="0"/>
              <a:t>U</a:t>
            </a:r>
            <a:r>
              <a:rPr sz="3200" spc="10" dirty="0"/>
              <a:t>S</a:t>
            </a:r>
            <a:r>
              <a:rPr sz="3200" spc="-25" dirty="0"/>
              <a:t>E</a:t>
            </a:r>
            <a:r>
              <a:rPr sz="3200" spc="-10" dirty="0"/>
              <a:t>R</a:t>
            </a:r>
            <a:r>
              <a:rPr sz="3200" spc="5" dirty="0"/>
              <a:t>S?</a:t>
            </a:r>
            <a:endParaRPr sz="3200"/>
          </a:p>
        </p:txBody>
      </p:sp>
      <p:pic>
        <p:nvPicPr>
          <p:cNvPr id="6" name="object 6"/>
          <p:cNvPicPr/>
          <p:nvPr/>
        </p:nvPicPr>
        <p:blipFill>
          <a:blip r:embed="rId2" cstate="print"/>
          <a:stretch>
            <a:fillRect/>
          </a:stretch>
        </p:blipFill>
        <p:spPr>
          <a:xfrm>
            <a:off x="723900" y="6172200"/>
            <a:ext cx="2181225" cy="485775"/>
          </a:xfrm>
          <a:prstGeom prst="rect">
            <a:avLst/>
          </a:prstGeom>
        </p:spPr>
      </p:pic>
      <p:sp>
        <p:nvSpPr>
          <p:cNvPr id="8" name="object 8"/>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6</a:t>
            </a:fld>
            <a:endParaRPr spc="10" dirty="0"/>
          </a:p>
        </p:txBody>
      </p:sp>
      <p:sp>
        <p:nvSpPr>
          <p:cNvPr id="7" name="Rectangle 6">
            <a:extLst>
              <a:ext uri="{FF2B5EF4-FFF2-40B4-BE49-F238E27FC236}">
                <a16:creationId xmlns:a16="http://schemas.microsoft.com/office/drawing/2014/main" id="{A16DD3A6-336E-7217-1430-4EA71F402511}"/>
              </a:ext>
            </a:extLst>
          </p:cNvPr>
          <p:cNvSpPr/>
          <p:nvPr/>
        </p:nvSpPr>
        <p:spPr>
          <a:xfrm>
            <a:off x="914400" y="2174855"/>
            <a:ext cx="8153400" cy="3416320"/>
          </a:xfrm>
          <a:prstGeom prst="rect">
            <a:avLst/>
          </a:prstGeom>
          <a:noFill/>
        </p:spPr>
        <p:txBody>
          <a:bodyPr wrap="square" lIns="91440" tIns="45720" rIns="91440" bIns="45720">
            <a:spAutoFit/>
          </a:bodyPr>
          <a:lstStyle/>
          <a:p>
            <a:pPr algn="ctr"/>
            <a:r>
              <a:rPr lang="en-IN" sz="2400" dirty="0"/>
              <a:t>The digital portfolio serves multiple categories of users. For students, it acts as a platform to present academic projects, internships, and extracurricular achievements. For fresh graduates and job seekers, it provides an opportunity to showcase technical skills and creativity to recruiters. Freelancers and professionals can use the portfolio to display their work and attract clients, while employers and recruiters benefit from gaining a clearer and more engaging view of a candidate’s abilities.</a:t>
            </a:r>
            <a:endParaRPr lang="en-GB" sz="2400" b="0" cap="none" spc="0" dirty="0">
              <a:ln w="0"/>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476375"/>
            <a:ext cx="2695574" cy="3248025"/>
          </a:xfrm>
          <a:prstGeom prst="rect">
            <a:avLst/>
          </a:prstGeom>
        </p:spPr>
      </p:pic>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6" name="object 6"/>
          <p:cNvSpPr txBox="1">
            <a:spLocks noGrp="1"/>
          </p:cNvSpPr>
          <p:nvPr>
            <p:ph type="title"/>
          </p:nvPr>
        </p:nvSpPr>
        <p:spPr>
          <a:xfrm>
            <a:off x="558165" y="857885"/>
            <a:ext cx="9763125" cy="575310"/>
          </a:xfrm>
          <a:prstGeom prst="rect">
            <a:avLst/>
          </a:prstGeom>
        </p:spPr>
        <p:txBody>
          <a:bodyPr vert="horz" wrap="square" lIns="0" tIns="13335" rIns="0" bIns="0" rtlCol="0">
            <a:spAutoFit/>
          </a:bodyPr>
          <a:lstStyle/>
          <a:p>
            <a:pPr marL="12700">
              <a:lnSpc>
                <a:spcPct val="100000"/>
              </a:lnSpc>
              <a:spcBef>
                <a:spcPts val="105"/>
              </a:spcBef>
            </a:pPr>
            <a:r>
              <a:rPr lang="en-IN" sz="3600" spc="10" dirty="0"/>
              <a:t>TOOLS AND TECHNIQUES</a:t>
            </a:r>
            <a:endParaRPr sz="3600" dirty="0"/>
          </a:p>
        </p:txBody>
      </p:sp>
      <p:pic>
        <p:nvPicPr>
          <p:cNvPr id="7" name="object 7"/>
          <p:cNvPicPr/>
          <p:nvPr/>
        </p:nvPicPr>
        <p:blipFill>
          <a:blip r:embed="rId3" cstate="print"/>
          <a:stretch>
            <a:fillRect/>
          </a:stretch>
        </p:blipFill>
        <p:spPr>
          <a:xfrm>
            <a:off x="676275" y="6467475"/>
            <a:ext cx="2143125" cy="200025"/>
          </a:xfrm>
          <a:prstGeom prst="rect">
            <a:avLst/>
          </a:prstGeom>
        </p:spPr>
      </p:pic>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7</a:t>
            </a:fld>
            <a:endParaRPr spc="10" dirty="0"/>
          </a:p>
        </p:txBody>
      </p:sp>
      <p:sp>
        <p:nvSpPr>
          <p:cNvPr id="8" name="Rectangle 7">
            <a:extLst>
              <a:ext uri="{FF2B5EF4-FFF2-40B4-BE49-F238E27FC236}">
                <a16:creationId xmlns:a16="http://schemas.microsoft.com/office/drawing/2014/main" id="{5CD49731-E25E-61D0-9A67-454185B0B749}"/>
              </a:ext>
            </a:extLst>
          </p:cNvPr>
          <p:cNvSpPr/>
          <p:nvPr/>
        </p:nvSpPr>
        <p:spPr>
          <a:xfrm>
            <a:off x="2971800" y="2140803"/>
            <a:ext cx="6381750" cy="3785652"/>
          </a:xfrm>
          <a:prstGeom prst="rect">
            <a:avLst/>
          </a:prstGeom>
          <a:noFill/>
        </p:spPr>
        <p:txBody>
          <a:bodyPr wrap="square" lIns="91440" tIns="45720" rIns="91440" bIns="45720">
            <a:spAutoFit/>
          </a:bodyPr>
          <a:lstStyle/>
          <a:p>
            <a:pPr algn="ctr"/>
            <a:r>
              <a:rPr lang="en-IN" sz="2400" dirty="0"/>
              <a:t>The portfolio was developed using HTML for content structuring, CSS for styling and layout design, and JavaScript for interactive features such as pop-up modals and smooth scrolling. The code was written and tested using Visual Studio Code. GitHub was used for version control and deployment, while Canva/Figma supported layout and design planning. These tools together ensured the project was functional, visually appealing, and deployable.</a:t>
            </a:r>
            <a:endParaRPr lang="en-GB" sz="2400" b="0" cap="none" spc="0" dirty="0">
              <a:ln w="0"/>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9" name="object 9"/>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a:cs typeface="Trebuchet MS"/>
              </a:rPr>
              <a:t>8</a:t>
            </a:fld>
            <a:endParaRPr sz="1100">
              <a:latin typeface="Trebuchet MS"/>
              <a:cs typeface="Trebuchet MS"/>
            </a:endParaRPr>
          </a:p>
        </p:txBody>
      </p:sp>
      <p:sp>
        <p:nvSpPr>
          <p:cNvPr id="8" name="object 8"/>
          <p:cNvSpPr txBox="1"/>
          <p:nvPr/>
        </p:nvSpPr>
        <p:spPr>
          <a:xfrm>
            <a:off x="739775" y="291147"/>
            <a:ext cx="8794750" cy="629018"/>
          </a:xfrm>
          <a:prstGeom prst="rect">
            <a:avLst/>
          </a:prstGeom>
        </p:spPr>
        <p:txBody>
          <a:bodyPr vert="horz" wrap="square" lIns="0" tIns="13335" rIns="0" bIns="0" rtlCol="0">
            <a:spAutoFit/>
          </a:bodyPr>
          <a:lstStyle/>
          <a:p>
            <a:pPr marL="12700">
              <a:lnSpc>
                <a:spcPct val="100000"/>
              </a:lnSpc>
              <a:spcBef>
                <a:spcPts val="105"/>
              </a:spcBef>
            </a:pPr>
            <a:r>
              <a:rPr lang="en-IN" sz="4000" b="1" spc="15" dirty="0">
                <a:latin typeface="Trebuchet MS"/>
                <a:cs typeface="Trebuchet MS"/>
              </a:rPr>
              <a:t>POTFOLIO DESIGN AND LAYOUT</a:t>
            </a:r>
            <a:endParaRPr sz="4000" dirty="0">
              <a:latin typeface="Trebuchet MS"/>
              <a:cs typeface="Trebuchet MS"/>
            </a:endParaRPr>
          </a:p>
        </p:txBody>
      </p:sp>
      <p:sp>
        <p:nvSpPr>
          <p:cNvPr id="14" name="object 3"/>
          <p:cNvSpPr/>
          <p:nvPr/>
        </p:nvSpPr>
        <p:spPr>
          <a:xfrm>
            <a:off x="10058400" y="525141"/>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2" name="Rectangle 1">
            <a:extLst>
              <a:ext uri="{FF2B5EF4-FFF2-40B4-BE49-F238E27FC236}">
                <a16:creationId xmlns:a16="http://schemas.microsoft.com/office/drawing/2014/main" id="{BB610630-F218-28D4-13CD-B62F8FD49683}"/>
              </a:ext>
            </a:extLst>
          </p:cNvPr>
          <p:cNvSpPr/>
          <p:nvPr/>
        </p:nvSpPr>
        <p:spPr>
          <a:xfrm>
            <a:off x="1743075" y="1826979"/>
            <a:ext cx="7096125" cy="3416320"/>
          </a:xfrm>
          <a:prstGeom prst="rect">
            <a:avLst/>
          </a:prstGeom>
          <a:noFill/>
        </p:spPr>
        <p:txBody>
          <a:bodyPr wrap="square" lIns="91440" tIns="45720" rIns="91440" bIns="45720">
            <a:spAutoFit/>
          </a:bodyPr>
          <a:lstStyle/>
          <a:p>
            <a:pPr algn="ctr"/>
            <a:r>
              <a:rPr lang="en-IN" sz="2400" dirty="0"/>
              <a:t>The design consists of a clean and modern layout. A sticky navigation bar provides easy access to different sections such as About, Projects, and Contact. The About section contains a profile photo and a personal introduction. The Projects section displays mini-projects in a grid format with interactive pop-up modals for details. The Contact section includes a simple form to allow users to get in touch. Finally, the footer provides credits and social media links.</a:t>
            </a:r>
            <a:endParaRPr lang="en-GB" sz="2400" b="0" cap="none" spc="0" dirty="0">
              <a:ln w="0"/>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6195E-16D6-79D8-7A9F-F8EB1FE9E212}"/>
              </a:ext>
            </a:extLst>
          </p:cNvPr>
          <p:cNvSpPr>
            <a:spLocks noGrp="1"/>
          </p:cNvSpPr>
          <p:nvPr>
            <p:ph type="title"/>
          </p:nvPr>
        </p:nvSpPr>
        <p:spPr/>
        <p:txBody>
          <a:bodyPr/>
          <a:lstStyle/>
          <a:p>
            <a:r>
              <a:rPr lang="en-IN" dirty="0"/>
              <a:t>FEATURES AND FUNCTIONALITY</a:t>
            </a:r>
          </a:p>
        </p:txBody>
      </p:sp>
      <p:sp>
        <p:nvSpPr>
          <p:cNvPr id="3" name="Rectangle 2">
            <a:extLst>
              <a:ext uri="{FF2B5EF4-FFF2-40B4-BE49-F238E27FC236}">
                <a16:creationId xmlns:a16="http://schemas.microsoft.com/office/drawing/2014/main" id="{76D1E761-3CD9-0178-6B1B-2AD1A2A828CD}"/>
              </a:ext>
            </a:extLst>
          </p:cNvPr>
          <p:cNvSpPr/>
          <p:nvPr/>
        </p:nvSpPr>
        <p:spPr>
          <a:xfrm>
            <a:off x="533400" y="1295400"/>
            <a:ext cx="10134600" cy="2308324"/>
          </a:xfrm>
          <a:prstGeom prst="rect">
            <a:avLst/>
          </a:prstGeom>
          <a:noFill/>
        </p:spPr>
        <p:txBody>
          <a:bodyPr wrap="square" lIns="91440" tIns="45720" rIns="91440" bIns="45720">
            <a:spAutoFit/>
          </a:bodyPr>
          <a:lstStyle/>
          <a:p>
            <a:pPr algn="ctr"/>
            <a:r>
              <a:rPr lang="en-IN" sz="2400" dirty="0"/>
              <a:t>The portfolio includes responsive design, ensuring it works across devices such as desktops, tablets, and smartphones. Smooth scrolling and sticky navigation improve user experience. Project details are shown using modal pop-ups, making the interface clean yet informative. The contact form supports basic validation and user interaction. Modern fonts, theme </a:t>
            </a:r>
            <a:r>
              <a:rPr lang="en-IN" sz="2400" dirty="0" err="1"/>
              <a:t>colors</a:t>
            </a:r>
            <a:r>
              <a:rPr lang="en-IN" sz="2400" dirty="0"/>
              <a:t>, and hover effects add to the visual appeal, making the portfolio both professional and engaging.</a:t>
            </a:r>
            <a:endParaRPr lang="en-GB" sz="2400" b="0" cap="none" spc="0" dirty="0">
              <a:ln w="0"/>
              <a:solidFill>
                <a:schemeClr val="tx1"/>
              </a:solidFill>
              <a:effectLst>
                <a:outerShdw blurRad="38100" dist="19050" dir="2700000" algn="tl" rotWithShape="0">
                  <a:schemeClr val="dk1">
                    <a:alpha val="40000"/>
                  </a:schemeClr>
                </a:outerShdw>
              </a:effectLst>
            </a:endParaRPr>
          </a:p>
        </p:txBody>
      </p:sp>
      <p:pic>
        <p:nvPicPr>
          <p:cNvPr id="5" name="Picture 4" descr="A screenshot of a computer&#10;&#10;AI-generated content may be incorrect.">
            <a:extLst>
              <a:ext uri="{FF2B5EF4-FFF2-40B4-BE49-F238E27FC236}">
                <a16:creationId xmlns:a16="http://schemas.microsoft.com/office/drawing/2014/main" id="{A25A44E2-60AE-02C5-A014-FEA45D7363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00" y="3603724"/>
            <a:ext cx="7772400" cy="2929190"/>
          </a:xfrm>
          <a:prstGeom prst="rect">
            <a:avLst/>
          </a:prstGeom>
        </p:spPr>
      </p:pic>
    </p:spTree>
    <p:extLst>
      <p:ext uri="{BB962C8B-B14F-4D97-AF65-F5344CB8AC3E}">
        <p14:creationId xmlns:p14="http://schemas.microsoft.com/office/powerpoint/2010/main" val="2720660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7" name="object 7"/>
          <p:cNvSpPr txBox="1">
            <a:spLocks noGrp="1"/>
          </p:cNvSpPr>
          <p:nvPr>
            <p:ph type="title"/>
          </p:nvPr>
        </p:nvSpPr>
        <p:spPr>
          <a:xfrm>
            <a:off x="457200" y="205593"/>
            <a:ext cx="8480425" cy="670696"/>
          </a:xfrm>
          <a:prstGeom prst="rect">
            <a:avLst/>
          </a:prstGeom>
        </p:spPr>
        <p:txBody>
          <a:bodyPr vert="horz" wrap="square" lIns="0" tIns="16510" rIns="0" bIns="0" rtlCol="0">
            <a:spAutoFit/>
          </a:bodyPr>
          <a:lstStyle/>
          <a:p>
            <a:pPr marL="12700">
              <a:lnSpc>
                <a:spcPct val="100000"/>
              </a:lnSpc>
              <a:spcBef>
                <a:spcPts val="130"/>
              </a:spcBef>
            </a:pPr>
            <a:r>
              <a:rPr lang="en-IN" sz="4250" spc="15" dirty="0"/>
              <a:t>RESULTS AND SCREENSHOTS</a:t>
            </a:r>
            <a:endParaRPr sz="4250" dirty="0"/>
          </a:p>
        </p:txBody>
      </p:sp>
      <p:sp>
        <p:nvSpPr>
          <p:cNvPr id="8" name="object 8"/>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a:cs typeface="Trebuchet MS"/>
              </a:rPr>
              <a:t>10</a:t>
            </a:fld>
            <a:endParaRPr sz="1100">
              <a:latin typeface="Trebuchet MS"/>
              <a:cs typeface="Trebuchet MS"/>
            </a:endParaRPr>
          </a:p>
        </p:txBody>
      </p:sp>
      <p:sp>
        <p:nvSpPr>
          <p:cNvPr id="9" name="TextBox 8">
            <a:extLst>
              <a:ext uri="{FF2B5EF4-FFF2-40B4-BE49-F238E27FC236}">
                <a16:creationId xmlns:a16="http://schemas.microsoft.com/office/drawing/2014/main" id="{FAD9CEB2-36E1-0550-426B-2FAF97882044}"/>
              </a:ext>
            </a:extLst>
          </p:cNvPr>
          <p:cNvSpPr txBox="1"/>
          <p:nvPr/>
        </p:nvSpPr>
        <p:spPr>
          <a:xfrm>
            <a:off x="2743200" y="2354703"/>
            <a:ext cx="8534018" cy="954107"/>
          </a:xfrm>
          <a:prstGeom prst="rect">
            <a:avLst/>
          </a:prstGeom>
          <a:noFill/>
        </p:spPr>
        <p:txBody>
          <a:bodyPr wrap="square" rtlCol="0">
            <a:spAutoFit/>
          </a:bodyPr>
          <a:lstStyle/>
          <a:p>
            <a:pPr algn="l">
              <a:buFont typeface="Arial" panose="020B0604020202020204" pitchFamily="34" charset="0"/>
              <a:buChar char="•"/>
            </a:pPr>
            <a:endParaRPr lang="en-US" sz="2800" b="0" i="0" dirty="0">
              <a:solidFill>
                <a:srgbClr val="0D0D0D"/>
              </a:solidFill>
              <a:effectLst/>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pic>
        <p:nvPicPr>
          <p:cNvPr id="13" name="Picture 12" descr="A screenshot of a computer&#10;&#10;AI-generated content may be incorrect.">
            <a:extLst>
              <a:ext uri="{FF2B5EF4-FFF2-40B4-BE49-F238E27FC236}">
                <a16:creationId xmlns:a16="http://schemas.microsoft.com/office/drawing/2014/main" id="{D0F0397C-0904-439A-6E92-C554C49FBE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1" y="876289"/>
            <a:ext cx="6137763" cy="3164527"/>
          </a:xfrm>
          <a:prstGeom prst="rect">
            <a:avLst/>
          </a:prstGeom>
        </p:spPr>
      </p:pic>
      <p:pic>
        <p:nvPicPr>
          <p:cNvPr id="15" name="Picture 14" descr="A screenshot of a computer&#10;&#10;AI-generated content may be incorrect.">
            <a:extLst>
              <a:ext uri="{FF2B5EF4-FFF2-40B4-BE49-F238E27FC236}">
                <a16:creationId xmlns:a16="http://schemas.microsoft.com/office/drawing/2014/main" id="{63AB48AE-A5ED-F67F-D45D-DCA76ECB61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9913" y="781050"/>
            <a:ext cx="5954534" cy="3479074"/>
          </a:xfrm>
          <a:prstGeom prst="rect">
            <a:avLst/>
          </a:prstGeom>
        </p:spPr>
      </p:pic>
      <p:pic>
        <p:nvPicPr>
          <p:cNvPr id="17" name="Picture 16" descr="A screenshot of a computer&#10;&#10;AI-generated content may be incorrect.">
            <a:extLst>
              <a:ext uri="{FF2B5EF4-FFF2-40B4-BE49-F238E27FC236}">
                <a16:creationId xmlns:a16="http://schemas.microsoft.com/office/drawing/2014/main" id="{8F8910DB-73CF-37FA-5A46-22B49274EF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950613"/>
            <a:ext cx="6231015" cy="2599837"/>
          </a:xfrm>
          <a:prstGeom prst="rect">
            <a:avLst/>
          </a:prstGeom>
        </p:spPr>
      </p:pic>
      <p:pic>
        <p:nvPicPr>
          <p:cNvPr id="19" name="Picture 18" descr="A screenshot of a computer&#10;&#10;AI-generated content may be incorrect.">
            <a:extLst>
              <a:ext uri="{FF2B5EF4-FFF2-40B4-BE49-F238E27FC236}">
                <a16:creationId xmlns:a16="http://schemas.microsoft.com/office/drawing/2014/main" id="{28B346DD-EC43-6CE3-4245-B0CA522DC7B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16249" y="3923265"/>
            <a:ext cx="4823276" cy="281190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7" name="object 7"/>
          <p:cNvSpPr txBox="1">
            <a:spLocks noGrp="1"/>
          </p:cNvSpPr>
          <p:nvPr>
            <p:ph type="title"/>
          </p:nvPr>
        </p:nvSpPr>
        <p:spPr>
          <a:xfrm>
            <a:off x="755332" y="385444"/>
            <a:ext cx="4578668" cy="752129"/>
          </a:xfrm>
          <a:prstGeom prst="rect">
            <a:avLst/>
          </a:prstGeom>
        </p:spPr>
        <p:txBody>
          <a:bodyPr vert="horz" wrap="square" lIns="0" tIns="13335" rIns="0" bIns="0" rtlCol="0">
            <a:spAutoFit/>
          </a:bodyPr>
          <a:lstStyle/>
          <a:p>
            <a:pPr marL="12700">
              <a:lnSpc>
                <a:spcPct val="100000"/>
              </a:lnSpc>
              <a:spcBef>
                <a:spcPts val="105"/>
              </a:spcBef>
            </a:pPr>
            <a:r>
              <a:rPr lang="en-IN" dirty="0"/>
              <a:t>CONCLUSION</a:t>
            </a:r>
            <a:endParaRPr dirty="0"/>
          </a:p>
        </p:txBody>
      </p:sp>
      <p:sp>
        <p:nvSpPr>
          <p:cNvPr id="9" name="object 9"/>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a:cs typeface="Trebuchet MS"/>
              </a:rPr>
              <a:t>11</a:t>
            </a:fld>
            <a:endParaRPr sz="1100">
              <a:latin typeface="Trebuchet MS"/>
              <a:cs typeface="Trebuchet MS"/>
            </a:endParaRPr>
          </a:p>
        </p:txBody>
      </p:sp>
      <p:sp>
        <p:nvSpPr>
          <p:cNvPr id="2" name="Rectangle 1">
            <a:extLst>
              <a:ext uri="{FF2B5EF4-FFF2-40B4-BE49-F238E27FC236}">
                <a16:creationId xmlns:a16="http://schemas.microsoft.com/office/drawing/2014/main" id="{EC801B85-4D6A-6286-E9FF-95B2BE34B0AA}"/>
              </a:ext>
            </a:extLst>
          </p:cNvPr>
          <p:cNvSpPr/>
          <p:nvPr/>
        </p:nvSpPr>
        <p:spPr>
          <a:xfrm>
            <a:off x="1428750" y="1642517"/>
            <a:ext cx="8382000" cy="4154984"/>
          </a:xfrm>
          <a:prstGeom prst="rect">
            <a:avLst/>
          </a:prstGeom>
          <a:noFill/>
        </p:spPr>
        <p:txBody>
          <a:bodyPr wrap="square" lIns="91440" tIns="45720" rIns="91440" bIns="45720">
            <a:spAutoFit/>
          </a:bodyPr>
          <a:lstStyle/>
          <a:p>
            <a:pPr algn="ctr"/>
            <a:r>
              <a:rPr lang="en-IN" sz="2400" dirty="0"/>
              <a:t>The digital portfolio project highlights the importance of having an online presence in today’s competitive world. It not only serves as a creative replacement for traditional resumes but also acts as a platform to demonstrate technical and design skills. The project strengthened my knowledge of front-end web development and design principles. In the future, the portfolio can be enhanced with backend integration for storing form responses and advanced frameworks like React for more dynamic features. Overall, this project reflects how simple web technologies can be used to make a strong professional impact.</a:t>
            </a:r>
          </a:p>
          <a:p>
            <a:pPr algn="ctr"/>
            <a:endParaRPr lang="en-GB" sz="2400" b="0" cap="none" spc="0" dirty="0">
              <a:ln w="0"/>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3634</TotalTime>
  <Words>735</Words>
  <Application>Microsoft Macintosh PowerPoint</Application>
  <PresentationFormat>Widescreen</PresentationFormat>
  <Paragraphs>51</Paragraphs>
  <Slides>11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Roboto</vt:lpstr>
      <vt:lpstr>Times New Roman</vt:lpstr>
      <vt:lpstr>Trebuchet MS</vt:lpstr>
      <vt:lpstr>Office Theme</vt:lpstr>
      <vt:lpstr>Digital Portfolio  </vt:lpstr>
      <vt:lpstr>PROJECT TITLE</vt:lpstr>
      <vt:lpstr>AGENDA</vt:lpstr>
      <vt:lpstr>PROBLEM STATEMENT</vt:lpstr>
      <vt:lpstr>PROJECT OVERVIEW</vt:lpstr>
      <vt:lpstr>WHO ARE THE END USERS?</vt:lpstr>
      <vt:lpstr>TOOLS AND TECHNIQUES</vt:lpstr>
      <vt:lpstr>PowerPoint Presentation</vt:lpstr>
      <vt:lpstr>FEATURES AND FUNCTIONALITY</vt:lpstr>
      <vt:lpstr>RESULTS AND SCREENSHOTS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Face Mask Detection using Convolutional Neural Network (CNN)  </dc:title>
  <dc:creator>Konduru Narasimha</dc:creator>
  <cp:lastModifiedBy>Pooja S  24BDS034</cp:lastModifiedBy>
  <cp:revision>24</cp:revision>
  <dcterms:created xsi:type="dcterms:W3CDTF">2024-03-29T15:07:22Z</dcterms:created>
  <dcterms:modified xsi:type="dcterms:W3CDTF">2025-09-12T12:58:39Z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2024-03-21T00:00:00Z</vt:filetime>
  </property>
  <property fmtid="{D5CDD505-2E9C-101B-9397-08002B2CF9AE}" pid="3" name="LastSaved">
    <vt:filetime>2024-03-29T00:00:00Z</vt:filetime>
  </property>
</Properties>
</file>